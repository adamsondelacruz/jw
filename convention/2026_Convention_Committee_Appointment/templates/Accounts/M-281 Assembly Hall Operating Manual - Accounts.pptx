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313" r:id="rId5"/>
    <p:sldId id="318" r:id="rId6"/>
    <p:sldId id="444" r:id="rId7"/>
    <p:sldId id="323" r:id="rId8"/>
  </p:sldIdLst>
  <p:sldSz cx="6858000" cy="9906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  <p188:author id="{DE62C480-6861-30ED-65C4-F0B0939ED38F}" name="Alecia Solley" initials="AS" userId="d98e04ff38596e86" providerId="Windows Live"/>
  <p188:author id="{1E5272AF-99C1-0EED-C50A-256C918574E2}" name="Machin, Ross" initials="RM" userId="S::rmachin@bethel.jw.org::40c7262a-01d4-4d5a-950b-3a7dcdf431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163"/>
    <a:srgbClr val="FF0041"/>
    <a:srgbClr val="44546A"/>
    <a:srgbClr val="DBECD0"/>
    <a:srgbClr val="D4E8C6"/>
    <a:srgbClr val="70AD47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80" autoAdjust="0"/>
    <p:restoredTop sz="93492" autoAdjust="0"/>
  </p:normalViewPr>
  <p:slideViewPr>
    <p:cSldViewPr snapToGrid="0">
      <p:cViewPr varScale="1">
        <p:scale>
          <a:sx n="67" d="100"/>
          <a:sy n="67" d="100"/>
        </p:scale>
        <p:origin x="375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4DD80E9-C85A-4253-94A6-4091435F8469}" type="datetimeFigureOut">
              <a:rPr lang="en-AU" smtClean="0"/>
              <a:t>4/06/2026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5238" y="1200150"/>
            <a:ext cx="22447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B7F173D-4144-4D92-8EBB-CE8DEDB74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501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913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823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022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102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762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78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392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71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051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692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034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F2553-D564-4B1A-B5A1-7484D80FAF99}" type="datetimeFigureOut">
              <a:rPr lang="en-AU" smtClean="0"/>
              <a:t>4/06/2026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A673C-3BC2-42D9-B789-852017DD015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805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1">
            <a:extLst>
              <a:ext uri="{FF2B5EF4-FFF2-40B4-BE49-F238E27FC236}">
                <a16:creationId xmlns:a16="http://schemas.microsoft.com/office/drawing/2014/main" id="{400D90BC-C408-40F5-878B-324F394DED07}"/>
              </a:ext>
            </a:extLst>
          </p:cNvPr>
          <p:cNvSpPr txBox="1"/>
          <p:nvPr/>
        </p:nvSpPr>
        <p:spPr>
          <a:xfrm>
            <a:off x="481219" y="9312464"/>
            <a:ext cx="20736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spcBef>
                <a:spcPts val="100"/>
              </a:spcBef>
            </a:pPr>
            <a:r>
              <a:rPr lang="en-NZ" sz="900" b="1" noProof="0" dirty="0">
                <a:solidFill>
                  <a:srgbClr val="70AD47"/>
                </a:solidFill>
                <a:latin typeface="GOTHAM-BOOK" panose="02000504050000020004"/>
                <a:cs typeface="Arial" panose="020B0604020202020204" pitchFamily="34" charset="0"/>
              </a:rPr>
              <a:t>OPERATING MANUA</a:t>
            </a:r>
            <a:r>
              <a:rPr lang="en-NZ" sz="900" b="1" noProof="0" dirty="0">
                <a:solidFill>
                  <a:srgbClr val="3A5163"/>
                </a:solidFill>
                <a:latin typeface="GOTHAM-BOOK" panose="02000504050000020004"/>
                <a:cs typeface="Arial" panose="020B0604020202020204" pitchFamily="34" charset="0"/>
              </a:rPr>
              <a:t>L | </a:t>
            </a:r>
            <a:r>
              <a:rPr lang="en-NZ" sz="800" b="1" noProof="0" dirty="0">
                <a:solidFill>
                  <a:srgbClr val="3A5163"/>
                </a:solidFill>
                <a:latin typeface="Arial"/>
                <a:cs typeface="Arial"/>
              </a:rPr>
              <a:t>NOVEMBER 2025</a:t>
            </a: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BFE849C5-E329-43B4-9E15-7747212A0471}"/>
              </a:ext>
            </a:extLst>
          </p:cNvPr>
          <p:cNvSpPr txBox="1"/>
          <p:nvPr/>
        </p:nvSpPr>
        <p:spPr>
          <a:xfrm>
            <a:off x="1943999" y="2820628"/>
            <a:ext cx="4183931" cy="1700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4400" b="1" spc="-20" noProof="0" dirty="0">
                <a:solidFill>
                  <a:srgbClr val="70AD47"/>
                </a:solidFill>
                <a:latin typeface="GOTHAM-BOOK" panose="02000504050000020004"/>
                <a:cs typeface="Arial" panose="020B0604020202020204" pitchFamily="34" charset="0"/>
              </a:rPr>
              <a:t>02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3200" spc="300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3200" spc="300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E207F196-DC8C-401D-ADC2-0E84390F4C3D}"/>
              </a:ext>
            </a:extLst>
          </p:cNvPr>
          <p:cNvSpPr/>
          <p:nvPr/>
        </p:nvSpPr>
        <p:spPr>
          <a:xfrm>
            <a:off x="1943999" y="4596227"/>
            <a:ext cx="4432783" cy="75134"/>
          </a:xfrm>
          <a:custGeom>
            <a:avLst/>
            <a:gdLst/>
            <a:ahLst/>
            <a:cxnLst/>
            <a:rect l="l" t="t" r="r" b="b"/>
            <a:pathLst>
              <a:path w="4662170">
                <a:moveTo>
                  <a:pt x="0" y="0"/>
                </a:moveTo>
                <a:lnTo>
                  <a:pt x="4662004" y="0"/>
                </a:lnTo>
              </a:path>
            </a:pathLst>
          </a:custGeom>
          <a:ln w="19050">
            <a:solidFill>
              <a:srgbClr val="7DCF3C"/>
            </a:solidFill>
          </a:ln>
        </p:spPr>
        <p:txBody>
          <a:bodyPr wrap="square" lIns="0" tIns="0" rIns="0" bIns="0" rtlCol="0"/>
          <a:lstStyle/>
          <a:p>
            <a:endParaRPr lang="en-NZ" sz="1634" noProof="0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43B5E2B-C923-4A3B-B072-3322A6BFA7EB}"/>
              </a:ext>
            </a:extLst>
          </p:cNvPr>
          <p:cNvSpPr txBox="1"/>
          <p:nvPr/>
        </p:nvSpPr>
        <p:spPr>
          <a:xfrm>
            <a:off x="1943999" y="4671361"/>
            <a:ext cx="3944071" cy="898307"/>
          </a:xfrm>
          <a:prstGeom prst="rect">
            <a:avLst/>
          </a:prstGeom>
        </p:spPr>
        <p:txBody>
          <a:bodyPr vert="horz" wrap="square" lIns="0" tIns="43799" rIns="0" bIns="0" rtlCol="0">
            <a:spAutoFit/>
          </a:bodyPr>
          <a:lstStyle/>
          <a:p>
            <a:pPr marL="11527">
              <a:spcBef>
                <a:spcPts val="258"/>
              </a:spcBef>
              <a:tabLst>
                <a:tab pos="218428" algn="l"/>
              </a:tabLst>
            </a:pPr>
            <a:r>
              <a:rPr lang="en-NZ" sz="1200" noProof="0" dirty="0">
                <a:solidFill>
                  <a:srgbClr val="3A5163"/>
                </a:solidFill>
                <a:latin typeface="GOTHAM-BOOK" panose="02000504050000020004"/>
                <a:cs typeface="Arial" panose="020B0604020202020204" pitchFamily="34" charset="0"/>
              </a:rPr>
              <a:t>Contribution Boxes</a:t>
            </a:r>
          </a:p>
          <a:p>
            <a:pPr marL="11527">
              <a:spcBef>
                <a:spcPts val="258"/>
              </a:spcBef>
              <a:tabLst>
                <a:tab pos="218428" algn="l"/>
              </a:tabLst>
            </a:pPr>
            <a:r>
              <a:rPr lang="en-NZ" sz="1200" dirty="0">
                <a:solidFill>
                  <a:srgbClr val="3A5163"/>
                </a:solidFill>
                <a:latin typeface="GOTHAM-BOOK" panose="02000504050000020004"/>
                <a:cs typeface="Arial" panose="020B0604020202020204" pitchFamily="34" charset="0"/>
              </a:rPr>
              <a:t>Safe</a:t>
            </a:r>
            <a:endParaRPr lang="en-NZ" sz="1200" noProof="0" dirty="0">
              <a:solidFill>
                <a:srgbClr val="3A5163"/>
              </a:solidFill>
              <a:latin typeface="GOTHAM-BOOK" panose="02000504050000020004"/>
              <a:cs typeface="Arial" panose="020B0604020202020204" pitchFamily="34" charset="0"/>
            </a:endParaRPr>
          </a:p>
          <a:p>
            <a:pPr marL="11527">
              <a:spcBef>
                <a:spcPts val="258"/>
              </a:spcBef>
              <a:tabLst>
                <a:tab pos="218428" algn="l"/>
              </a:tabLst>
            </a:pPr>
            <a:r>
              <a:rPr lang="en-NZ" sz="1200" noProof="0" dirty="0">
                <a:solidFill>
                  <a:srgbClr val="3A5163"/>
                </a:solidFill>
                <a:latin typeface="GOTHAM-BOOK" panose="02000504050000020004"/>
                <a:cs typeface="Arial" panose="020B0604020202020204" pitchFamily="34" charset="0"/>
              </a:rPr>
              <a:t>Cleaning</a:t>
            </a:r>
          </a:p>
          <a:p>
            <a:pPr marL="11527">
              <a:spcBef>
                <a:spcPts val="258"/>
              </a:spcBef>
              <a:tabLst>
                <a:tab pos="218428" algn="l"/>
              </a:tabLst>
            </a:pPr>
            <a:r>
              <a:rPr lang="en-NZ" sz="1200" noProof="0" dirty="0">
                <a:solidFill>
                  <a:srgbClr val="3A5163"/>
                </a:solidFill>
                <a:latin typeface="GOTHAM-BOOK" panose="02000504050000020004"/>
                <a:cs typeface="Arial" panose="020B0604020202020204" pitchFamily="34" charset="0"/>
              </a:rPr>
              <a:t>Checklist</a:t>
            </a: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3E48DF88-D75C-45E2-A085-A8D60E536F75}"/>
              </a:ext>
            </a:extLst>
          </p:cNvPr>
          <p:cNvSpPr txBox="1"/>
          <p:nvPr/>
        </p:nvSpPr>
        <p:spPr>
          <a:xfrm>
            <a:off x="4303147" y="9312464"/>
            <a:ext cx="20736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tabLst/>
            </a:pPr>
            <a:r>
              <a:rPr lang="en-NZ" sz="900" b="1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hall | </a:t>
            </a:r>
            <a:r>
              <a:rPr lang="en-NZ" sz="900" b="1" noProof="0" dirty="0" err="1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auckland</a:t>
            </a:r>
            <a:endParaRPr lang="en-NZ" sz="900" b="1" noProof="0" dirty="0">
              <a:solidFill>
                <a:srgbClr val="70A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7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2">
            <a:extLst>
              <a:ext uri="{FF2B5EF4-FFF2-40B4-BE49-F238E27FC236}">
                <a16:creationId xmlns:a16="http://schemas.microsoft.com/office/drawing/2014/main" id="{7FFE7988-6358-4E22-9171-59B1ED4DA701}"/>
              </a:ext>
            </a:extLst>
          </p:cNvPr>
          <p:cNvSpPr/>
          <p:nvPr/>
        </p:nvSpPr>
        <p:spPr>
          <a:xfrm>
            <a:off x="1977273" y="1832364"/>
            <a:ext cx="0" cy="6595109"/>
          </a:xfrm>
          <a:custGeom>
            <a:avLst/>
            <a:gdLst/>
            <a:ahLst/>
            <a:cxnLst/>
            <a:rect l="l" t="t" r="r" b="b"/>
            <a:pathLst>
              <a:path h="6595109">
                <a:moveTo>
                  <a:pt x="0" y="0"/>
                </a:moveTo>
                <a:lnTo>
                  <a:pt x="0" y="6595109"/>
                </a:lnTo>
              </a:path>
            </a:pathLst>
          </a:custGeom>
          <a:ln w="28575">
            <a:solidFill>
              <a:srgbClr val="70AD47"/>
            </a:solidFill>
          </a:ln>
        </p:spPr>
        <p:txBody>
          <a:bodyPr wrap="square" lIns="0" tIns="0" rIns="0" bIns="0" rtlCol="0"/>
          <a:lstStyle/>
          <a:p>
            <a:endParaRPr lang="en-NZ" noProof="0" dirty="0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1BE1332B-0B88-49F9-A0B5-62D0B125E5FB}"/>
              </a:ext>
            </a:extLst>
          </p:cNvPr>
          <p:cNvSpPr txBox="1"/>
          <p:nvPr/>
        </p:nvSpPr>
        <p:spPr>
          <a:xfrm>
            <a:off x="2206755" y="1759178"/>
            <a:ext cx="4170027" cy="332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 algn="just">
              <a:spcAft>
                <a:spcPts val="600"/>
              </a:spcAft>
            </a:pPr>
            <a:r>
              <a:rPr lang="en-NZ" sz="2000" b="1" noProof="0" dirty="0">
                <a:solidFill>
                  <a:srgbClr val="3A5163"/>
                </a:solidFill>
                <a:latin typeface="Gotham" panose="02000504050000020004" pitchFamily="2" charset="0"/>
                <a:cs typeface="Arial" panose="020B0604020202020204" pitchFamily="34" charset="0"/>
              </a:rPr>
              <a:t>CONTRIBUTION BOXES</a:t>
            </a:r>
          </a:p>
          <a:p>
            <a:pPr marL="12700" marR="9525" algn="just">
              <a:spcAft>
                <a:spcPts val="600"/>
              </a:spcAft>
            </a:pPr>
            <a:r>
              <a:rPr lang="en-US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Contribution boxes are located at the positions marked in red on the diagram below, namely:</a:t>
            </a:r>
            <a:endParaRPr lang="en-NZ" sz="1100" spc="-20" noProof="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• Foyer x 4</a:t>
            </a:r>
          </a:p>
          <a:p>
            <a:pPr marL="12700" marR="9525" algn="just">
              <a:spcAft>
                <a:spcPts val="600"/>
              </a:spcAft>
            </a:pP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• Dining Room x 1</a:t>
            </a:r>
          </a:p>
          <a:p>
            <a:pPr marL="12700" marR="9525" algn="just">
              <a:spcAft>
                <a:spcPts val="600"/>
              </a:spcAft>
            </a:pPr>
            <a:endParaRPr lang="en-NZ" sz="100" spc="-20" noProof="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Two sets of keys to the contribution boxes and the Audit Office will be provided to the Accounts Overseer by the Assembly Overseer/Convention Coordinator.  All the contribution boxes must be cleared and lids left open at the close of each assembly/each day of the convention.</a:t>
            </a:r>
          </a:p>
          <a:p>
            <a:pPr marL="12700" marR="9525" algn="just">
              <a:spcAft>
                <a:spcPts val="600"/>
              </a:spcAft>
            </a:pPr>
            <a:endParaRPr lang="en-NZ" sz="1100" spc="-20" noProof="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endParaRPr lang="en-NZ" sz="1100" spc="-2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endParaRPr lang="en-NZ" sz="1100" spc="-20" noProof="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endParaRPr lang="en-NZ" sz="1100" spc="-2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endParaRPr lang="en-NZ" sz="1100" spc="-20" noProof="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23D12334-E7CC-4A9D-A584-D093C5C527FE}"/>
              </a:ext>
            </a:extLst>
          </p:cNvPr>
          <p:cNvSpPr txBox="1"/>
          <p:nvPr/>
        </p:nvSpPr>
        <p:spPr>
          <a:xfrm>
            <a:off x="390152" y="384479"/>
            <a:ext cx="171164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spcBef>
                <a:spcPts val="100"/>
              </a:spcBef>
            </a:pPr>
            <a:r>
              <a:rPr lang="en-NZ" sz="900" b="1" noProof="0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NZ" sz="1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sz="700" b="1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DEPARTMENT</a:t>
            </a:r>
            <a:endParaRPr lang="en-NZ" sz="800" noProof="0" dirty="0">
              <a:solidFill>
                <a:srgbClr val="3A51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A4324B33-F778-42CB-B938-EE1F3FCD2DFB}"/>
              </a:ext>
            </a:extLst>
          </p:cNvPr>
          <p:cNvSpPr txBox="1"/>
          <p:nvPr/>
        </p:nvSpPr>
        <p:spPr>
          <a:xfrm>
            <a:off x="4303147" y="9312464"/>
            <a:ext cx="20736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tabLst/>
            </a:pPr>
            <a:r>
              <a:rPr lang="en-NZ" sz="900" b="1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hall | </a:t>
            </a:r>
            <a:r>
              <a:rPr lang="en-NZ" sz="900" b="1" noProof="0" dirty="0" err="1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auckland</a:t>
            </a:r>
            <a:endParaRPr lang="en-NZ" sz="900" b="1" noProof="0" dirty="0">
              <a:solidFill>
                <a:srgbClr val="70A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886B202A-0898-4DE2-9C45-F1D6603736B9}"/>
              </a:ext>
            </a:extLst>
          </p:cNvPr>
          <p:cNvSpPr txBox="1"/>
          <p:nvPr/>
        </p:nvSpPr>
        <p:spPr>
          <a:xfrm>
            <a:off x="390151" y="1844903"/>
            <a:ext cx="1450835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b="1" spc="-10" noProof="0" dirty="0">
                <a:solidFill>
                  <a:srgbClr val="3A5163"/>
                </a:solidFill>
                <a:latin typeface="GOTHAM-BOOK" panose="02000504050000020004"/>
                <a:cs typeface="Arial"/>
              </a:rPr>
              <a:t>Contribution Boxes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spc="-10" dirty="0">
                <a:solidFill>
                  <a:srgbClr val="9DA8B1"/>
                </a:solidFill>
                <a:latin typeface="GOTHAM-BOOK" panose="02000504050000020004"/>
                <a:cs typeface="Arial"/>
              </a:rPr>
              <a:t>Safe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spc="-10" dirty="0">
                <a:solidFill>
                  <a:srgbClr val="9DA8B1"/>
                </a:solidFill>
                <a:latin typeface="GOTHAM-BOOK" panose="02000504050000020004"/>
                <a:cs typeface="Arial"/>
              </a:rPr>
              <a:t>Cleaning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spc="-10" noProof="0" dirty="0">
                <a:solidFill>
                  <a:srgbClr val="9DA8B1"/>
                </a:solidFill>
                <a:latin typeface="GOTHAM-BOOK" panose="02000504050000020004"/>
                <a:cs typeface="Arial"/>
              </a:rPr>
              <a:t>Checklist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8B63B-3B4A-5DBC-5ED5-3387FD66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74" b="13495"/>
          <a:stretch>
            <a:fillRect/>
          </a:stretch>
        </p:blipFill>
        <p:spPr>
          <a:xfrm>
            <a:off x="2206755" y="4157663"/>
            <a:ext cx="4384541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6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C4410-6C04-8924-A5C4-0A16DB2D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2">
            <a:extLst>
              <a:ext uri="{FF2B5EF4-FFF2-40B4-BE49-F238E27FC236}">
                <a16:creationId xmlns:a16="http://schemas.microsoft.com/office/drawing/2014/main" id="{A20AC868-2582-4479-9F1A-77DC414CD089}"/>
              </a:ext>
            </a:extLst>
          </p:cNvPr>
          <p:cNvSpPr/>
          <p:nvPr/>
        </p:nvSpPr>
        <p:spPr>
          <a:xfrm>
            <a:off x="1977273" y="1832364"/>
            <a:ext cx="0" cy="6595109"/>
          </a:xfrm>
          <a:custGeom>
            <a:avLst/>
            <a:gdLst/>
            <a:ahLst/>
            <a:cxnLst/>
            <a:rect l="l" t="t" r="r" b="b"/>
            <a:pathLst>
              <a:path h="6595109">
                <a:moveTo>
                  <a:pt x="0" y="0"/>
                </a:moveTo>
                <a:lnTo>
                  <a:pt x="0" y="6595109"/>
                </a:lnTo>
              </a:path>
            </a:pathLst>
          </a:custGeom>
          <a:ln w="28575">
            <a:solidFill>
              <a:srgbClr val="70AD47"/>
            </a:solidFill>
          </a:ln>
        </p:spPr>
        <p:txBody>
          <a:bodyPr wrap="square" lIns="0" tIns="0" rIns="0" bIns="0" rtlCol="0"/>
          <a:lstStyle/>
          <a:p>
            <a:endParaRPr lang="en-NZ" noProof="0" dirty="0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D8B48010-C1D3-6901-4B03-F20146DA4A2D}"/>
              </a:ext>
            </a:extLst>
          </p:cNvPr>
          <p:cNvSpPr txBox="1"/>
          <p:nvPr/>
        </p:nvSpPr>
        <p:spPr>
          <a:xfrm>
            <a:off x="2206755" y="1759178"/>
            <a:ext cx="4170027" cy="21980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 algn="just">
              <a:spcAft>
                <a:spcPts val="600"/>
              </a:spcAft>
            </a:pPr>
            <a:r>
              <a:rPr lang="en-NZ" sz="2000" b="1" noProof="0" dirty="0">
                <a:solidFill>
                  <a:srgbClr val="3A5163"/>
                </a:solidFill>
                <a:latin typeface="Gotham" panose="02000504050000020004" pitchFamily="2" charset="0"/>
                <a:cs typeface="Arial" panose="020B0604020202020204" pitchFamily="34" charset="0"/>
              </a:rPr>
              <a:t>SAFE</a:t>
            </a:r>
          </a:p>
          <a:p>
            <a:pPr marL="12700" marR="9525" algn="just">
              <a:spcAft>
                <a:spcPts val="600"/>
              </a:spcAft>
            </a:pP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A steel safe is provided.  Only the key should be used to lock and unlock the safe.  </a:t>
            </a:r>
            <a:r>
              <a:rPr lang="en-NZ" sz="1100" u="sng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The combination must not be changed</a:t>
            </a: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.  At the conclusion of the Assembly/Convention, all monies must be removed from the AH.</a:t>
            </a:r>
          </a:p>
          <a:p>
            <a:pPr marL="12700" marR="9525" algn="just">
              <a:spcAft>
                <a:spcPts val="600"/>
              </a:spcAft>
            </a:pPr>
            <a:endParaRPr lang="en-NZ" sz="1100" spc="-20" dirty="0">
              <a:solidFill>
                <a:schemeClr val="tx1">
                  <a:lumMod val="65000"/>
                  <a:lumOff val="35000"/>
                </a:schemeClr>
              </a:solidFill>
              <a:latin typeface="GOTHAM-BOOK" panose="02000504050000020004"/>
              <a:cs typeface="Arial"/>
            </a:endParaRPr>
          </a:p>
          <a:p>
            <a:pPr marL="12700" marR="9525" algn="just">
              <a:spcAft>
                <a:spcPts val="600"/>
              </a:spcAft>
            </a:pPr>
            <a:r>
              <a:rPr lang="en-NZ" sz="2000" b="1" noProof="0" dirty="0">
                <a:solidFill>
                  <a:srgbClr val="3A5163"/>
                </a:solidFill>
                <a:latin typeface="Gotham" panose="02000504050000020004" pitchFamily="2" charset="0"/>
                <a:cs typeface="Arial" panose="020B0604020202020204" pitchFamily="34" charset="0"/>
              </a:rPr>
              <a:t>CLEANING</a:t>
            </a:r>
          </a:p>
          <a:p>
            <a:pPr marL="12700" marR="9525" algn="just">
              <a:spcAft>
                <a:spcPts val="600"/>
              </a:spcAft>
            </a:pP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The Accounts department is responsible for the cleaning of the accounts room at the end of the assembly day/each day of the convention.</a:t>
            </a:r>
          </a:p>
          <a:p>
            <a:pPr marL="12700" marR="9525" algn="just">
              <a:spcAft>
                <a:spcPts val="600"/>
              </a:spcAft>
            </a:pP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All cleaning equipment is stored in the cleaning room.</a:t>
            </a: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AA05646F-7ABE-2926-F8CF-560CBF251A31}"/>
              </a:ext>
            </a:extLst>
          </p:cNvPr>
          <p:cNvSpPr txBox="1"/>
          <p:nvPr/>
        </p:nvSpPr>
        <p:spPr>
          <a:xfrm>
            <a:off x="390152" y="384479"/>
            <a:ext cx="171164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spcBef>
                <a:spcPts val="100"/>
              </a:spcBef>
            </a:pPr>
            <a:r>
              <a:rPr lang="en-NZ" sz="900" b="1" noProof="0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NZ" sz="1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sz="700" b="1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DEPARTMENT</a:t>
            </a:r>
            <a:endParaRPr lang="en-NZ" sz="800" noProof="0" dirty="0">
              <a:solidFill>
                <a:srgbClr val="3A51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CA7A3F87-C17E-9D07-E562-C5C29C9C0664}"/>
              </a:ext>
            </a:extLst>
          </p:cNvPr>
          <p:cNvSpPr txBox="1"/>
          <p:nvPr/>
        </p:nvSpPr>
        <p:spPr>
          <a:xfrm>
            <a:off x="4303147" y="9312464"/>
            <a:ext cx="20736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tabLst/>
            </a:pPr>
            <a:r>
              <a:rPr lang="en-NZ" sz="900" b="1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hall | </a:t>
            </a:r>
            <a:r>
              <a:rPr lang="en-NZ" sz="900" b="1" noProof="0" dirty="0" err="1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auckland</a:t>
            </a:r>
            <a:endParaRPr lang="en-NZ" sz="900" b="1" noProof="0" dirty="0">
              <a:solidFill>
                <a:srgbClr val="70A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DA9B5E29-4B40-7EF6-5D19-BA2BA048AB2F}"/>
              </a:ext>
            </a:extLst>
          </p:cNvPr>
          <p:cNvSpPr txBox="1"/>
          <p:nvPr/>
        </p:nvSpPr>
        <p:spPr>
          <a:xfrm>
            <a:off x="390151" y="1844903"/>
            <a:ext cx="1450835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spc="-10" dirty="0">
                <a:solidFill>
                  <a:srgbClr val="9DA8B1"/>
                </a:solidFill>
                <a:latin typeface="GOTHAM-BOOK" panose="02000504050000020004"/>
                <a:cs typeface="Arial"/>
              </a:rPr>
              <a:t>Contribution Boxes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b="1" spc="-10" noProof="0" dirty="0">
                <a:solidFill>
                  <a:srgbClr val="3A5163"/>
                </a:solidFill>
                <a:latin typeface="GOTHAM-BOOK" panose="02000504050000020004"/>
                <a:cs typeface="Arial"/>
              </a:rPr>
              <a:t>Safe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b="1" spc="-10" noProof="0" dirty="0">
                <a:solidFill>
                  <a:srgbClr val="3A5163"/>
                </a:solidFill>
                <a:latin typeface="GOTHAM-BOOK" panose="02000504050000020004"/>
                <a:cs typeface="Arial"/>
              </a:rPr>
              <a:t>Cleaning</a:t>
            </a:r>
          </a:p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100" spc="-10" noProof="0" dirty="0">
                <a:solidFill>
                  <a:srgbClr val="9DA8B1"/>
                </a:solidFill>
                <a:latin typeface="GOTHAM-BOOK" panose="02000504050000020004"/>
                <a:cs typeface="Arial"/>
              </a:rPr>
              <a:t>Checklist</a:t>
            </a:r>
          </a:p>
        </p:txBody>
      </p:sp>
    </p:spTree>
    <p:extLst>
      <p:ext uri="{BB962C8B-B14F-4D97-AF65-F5344CB8AC3E}">
        <p14:creationId xmlns:p14="http://schemas.microsoft.com/office/powerpoint/2010/main" val="292125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E901174-5777-44FC-9736-42F78EE2EBF6}"/>
              </a:ext>
            </a:extLst>
          </p:cNvPr>
          <p:cNvSpPr txBox="1"/>
          <p:nvPr/>
        </p:nvSpPr>
        <p:spPr>
          <a:xfrm>
            <a:off x="590291" y="2794593"/>
            <a:ext cx="5986264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" algn="just">
              <a:spcAft>
                <a:spcPts val="600"/>
              </a:spcAft>
            </a:pPr>
            <a:r>
              <a:rPr lang="en-NZ" sz="1600" b="1" noProof="0" dirty="0">
                <a:solidFill>
                  <a:srgbClr val="44546A"/>
                </a:solidFill>
                <a:latin typeface="Gotham" panose="02000504050000020004"/>
                <a:cs typeface="Arial" panose="020B0604020202020204" pitchFamily="34" charset="0"/>
              </a:rPr>
              <a:t>ACCOUNTS ROOM &amp; FIRE/ALARM PANEL OFFICE CLEANING</a:t>
            </a:r>
          </a:p>
          <a:p>
            <a:pPr marL="14400" lvl="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Tidy desk, wipe desks with </a:t>
            </a:r>
            <a:r>
              <a:rPr lang="en-NZ" sz="110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Aquamix</a:t>
            </a: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 #7 spray and blue microfiber cloth 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Sanitise light switches, door handles and remotes using </a:t>
            </a:r>
            <a:r>
              <a:rPr lang="en-NZ" sz="110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Aquamix</a:t>
            </a: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 #7 and blue microfiber cloth</a:t>
            </a:r>
          </a:p>
          <a:p>
            <a:pPr marL="14400" lvl="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All items neatly stored away in drawers</a:t>
            </a:r>
          </a:p>
          <a:p>
            <a:pPr marL="14400" lvl="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Remove schedules/paperwork from notice board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Empty rubbish bins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Vacuum carpet floors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Spot vacuum chairs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NZ" sz="1100" noProof="0" dirty="0">
              <a:solidFill>
                <a:schemeClr val="tx1">
                  <a:lumMod val="65000"/>
                  <a:lumOff val="35000"/>
                </a:schemeClr>
              </a:solidFill>
              <a:latin typeface="Gotham" panose="02000504050000020004"/>
              <a:cs typeface="Arial" panose="020B0604020202020204" pitchFamily="34" charset="0"/>
            </a:endParaRPr>
          </a:p>
          <a:p>
            <a:pPr marL="14400" algn="just">
              <a:spcAft>
                <a:spcPts val="600"/>
              </a:spcAft>
            </a:pPr>
            <a:endParaRPr lang="en-NZ" sz="1100" noProof="0" dirty="0">
              <a:solidFill>
                <a:schemeClr val="tx1">
                  <a:lumMod val="65000"/>
                  <a:lumOff val="35000"/>
                </a:schemeClr>
              </a:solidFill>
              <a:latin typeface="Gotham" panose="02000504050000020004"/>
              <a:cs typeface="Arial" panose="020B0604020202020204" pitchFamily="34" charset="0"/>
            </a:endParaRPr>
          </a:p>
          <a:p>
            <a:pPr marL="14400" algn="just">
              <a:spcAft>
                <a:spcPts val="600"/>
              </a:spcAft>
            </a:pPr>
            <a:r>
              <a:rPr lang="en-NZ" sz="1600" b="1" noProof="0" dirty="0">
                <a:solidFill>
                  <a:srgbClr val="44546A"/>
                </a:solidFill>
                <a:latin typeface="Gotham" panose="02000504050000020004"/>
                <a:cs typeface="Arial" panose="020B0604020202020204" pitchFamily="34" charset="0"/>
              </a:rPr>
              <a:t>FINAL CHECKLIST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Ensure that all contribution boxes have been cleared and left open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Ensure that all keys have been returned to Assembly Overseer/</a:t>
            </a:r>
            <a:r>
              <a:rPr lang="en-NZ" sz="1100" spc="-2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-BOOK" panose="02000504050000020004"/>
                <a:cs typeface="Arial"/>
              </a:rPr>
              <a:t>Convention Coordinator</a:t>
            </a:r>
            <a:endParaRPr lang="en-NZ" sz="1100" noProof="0" dirty="0">
              <a:solidFill>
                <a:schemeClr val="tx1">
                  <a:lumMod val="65000"/>
                  <a:lumOff val="35000"/>
                </a:schemeClr>
              </a:solidFill>
              <a:latin typeface="Gotham" panose="02000504050000020004"/>
              <a:cs typeface="Arial" panose="020B0604020202020204" pitchFamily="34" charset="0"/>
            </a:endParaRP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Check that no monies have been left in the safe and left open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All money and paperwork removed and in the care of the accounts overseer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Accounts room has been cleaned</a:t>
            </a:r>
          </a:p>
          <a:p>
            <a:pPr marL="144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Lights turned off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TV turned off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NZ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" panose="02000504050000020004"/>
                <a:cs typeface="Arial" panose="020B0604020202020204" pitchFamily="34" charset="0"/>
              </a:rPr>
              <a:t>Return this checklist to event oversight</a:t>
            </a:r>
            <a:endParaRPr lang="en-NZ" sz="1100" noProof="0" dirty="0">
              <a:solidFill>
                <a:schemeClr val="tx1">
                  <a:lumMod val="65000"/>
                  <a:lumOff val="35000"/>
                </a:schemeClr>
              </a:solidFill>
              <a:latin typeface="Gotham" panose="02000504050000020004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NZ" sz="1100" noProof="0" dirty="0">
              <a:solidFill>
                <a:schemeClr val="tx1">
                  <a:lumMod val="65000"/>
                  <a:lumOff val="35000"/>
                </a:schemeClr>
              </a:solidFill>
              <a:latin typeface="Gotham" panose="02000504050000020004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88A9B-B3A6-41D4-84B7-53DDD7E8F670}"/>
              </a:ext>
            </a:extLst>
          </p:cNvPr>
          <p:cNvSpPr/>
          <p:nvPr/>
        </p:nvSpPr>
        <p:spPr>
          <a:xfrm>
            <a:off x="617723" y="976039"/>
            <a:ext cx="989607" cy="11494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6FD45-A6B0-408E-80A8-F8A857662C9B}"/>
              </a:ext>
            </a:extLst>
          </p:cNvPr>
          <p:cNvSpPr txBox="1"/>
          <p:nvPr/>
        </p:nvSpPr>
        <p:spPr>
          <a:xfrm>
            <a:off x="817862" y="1268378"/>
            <a:ext cx="589327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NZ" sz="3200" b="1" u="sng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DB296E-633C-4C0E-89B2-61A9E0784DB2}"/>
              </a:ext>
            </a:extLst>
          </p:cNvPr>
          <p:cNvCxnSpPr>
            <a:cxnSpLocks/>
          </p:cNvCxnSpPr>
          <p:nvPr/>
        </p:nvCxnSpPr>
        <p:spPr>
          <a:xfrm>
            <a:off x="590291" y="2309142"/>
            <a:ext cx="5664205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11">
            <a:extLst>
              <a:ext uri="{FF2B5EF4-FFF2-40B4-BE49-F238E27FC236}">
                <a16:creationId xmlns:a16="http://schemas.microsoft.com/office/drawing/2014/main" id="{47445CD3-E41E-4F84-9745-5186EC76D916}"/>
              </a:ext>
            </a:extLst>
          </p:cNvPr>
          <p:cNvSpPr txBox="1"/>
          <p:nvPr/>
        </p:nvSpPr>
        <p:spPr>
          <a:xfrm>
            <a:off x="4303147" y="9312464"/>
            <a:ext cx="20736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tabLst/>
            </a:pPr>
            <a:r>
              <a:rPr lang="en-NZ" sz="900" b="1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hall | </a:t>
            </a:r>
            <a:r>
              <a:rPr lang="en-NZ" sz="900" b="1" noProof="0" dirty="0" err="1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auckland</a:t>
            </a:r>
            <a:endParaRPr lang="en-NZ" sz="900" b="1" noProof="0" dirty="0">
              <a:solidFill>
                <a:srgbClr val="70A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F88D257-F350-41CE-9A48-DAC9428A953B}"/>
              </a:ext>
            </a:extLst>
          </p:cNvPr>
          <p:cNvSpPr txBox="1"/>
          <p:nvPr/>
        </p:nvSpPr>
        <p:spPr>
          <a:xfrm>
            <a:off x="1807469" y="1072204"/>
            <a:ext cx="443280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2400" spc="300" noProof="0" dirty="0">
                <a:solidFill>
                  <a:srgbClr val="3A51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DEPARTMENT</a:t>
            </a: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2BFF565A-5781-4729-9E04-EDF317B16BA5}"/>
              </a:ext>
            </a:extLst>
          </p:cNvPr>
          <p:cNvSpPr txBox="1"/>
          <p:nvPr/>
        </p:nvSpPr>
        <p:spPr>
          <a:xfrm>
            <a:off x="1807469" y="1920129"/>
            <a:ext cx="4183931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lang="en-NZ" sz="1050" noProof="0" dirty="0">
                <a:solidFill>
                  <a:srgbClr val="3A5163"/>
                </a:solidFill>
                <a:latin typeface="GOTHAM-BOOK"/>
                <a:cs typeface="Arial" panose="020B0604020202020204" pitchFamily="34" charset="0"/>
              </a:rPr>
              <a:t>Please complete the task lists below</a:t>
            </a:r>
          </a:p>
        </p:txBody>
      </p:sp>
    </p:spTree>
    <p:extLst>
      <p:ext uri="{BB962C8B-B14F-4D97-AF65-F5344CB8AC3E}">
        <p14:creationId xmlns:p14="http://schemas.microsoft.com/office/powerpoint/2010/main" val="3061857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7D2D1A85716F4182F10E99819BBFC4" ma:contentTypeVersion="16" ma:contentTypeDescription="Create a new document." ma:contentTypeScope="" ma:versionID="599095d6fedd78c83b8bb1f8f879bc3d">
  <xsd:schema xmlns:xsd="http://www.w3.org/2001/XMLSchema" xmlns:xs="http://www.w3.org/2001/XMLSchema" xmlns:p="http://schemas.microsoft.com/office/2006/metadata/properties" xmlns:ns2="fa9100ef-cdc8-4fe0-b618-2f01a1f016e1" xmlns:ns3="6b454d3f-fdf6-4ffc-a832-bf3728d2e0e1" targetNamespace="http://schemas.microsoft.com/office/2006/metadata/properties" ma:root="true" ma:fieldsID="fc75b200adb8d04d7e6c55f2b52b1eb4" ns2:_="" ns3:_="">
    <xsd:import namespace="fa9100ef-cdc8-4fe0-b618-2f01a1f016e1"/>
    <xsd:import namespace="6b454d3f-fdf6-4ffc-a832-bf3728d2e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100ef-cdc8-4fe0-b618-2f01a1f016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65eb1af-e7dc-4e37-85a6-d2733eb990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54d3f-fdf6-4ffc-a832-bf3728d2e0e1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3b5a7424-2992-4b4f-b11c-9870a3611743}" ma:internalName="TaxCatchAll" ma:showField="CatchAllData" ma:web="6b454d3f-fdf6-4ffc-a832-bf3728d2e0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454d3f-fdf6-4ffc-a832-bf3728d2e0e1" xsi:nil="true"/>
    <lcf76f155ced4ddcb4097134ff3c332f xmlns="fa9100ef-cdc8-4fe0-b618-2f01a1f016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97682F-93E6-4A47-8BA4-AEACE272224B}"/>
</file>

<file path=customXml/itemProps2.xml><?xml version="1.0" encoding="utf-8"?>
<ds:datastoreItem xmlns:ds="http://schemas.openxmlformats.org/officeDocument/2006/customXml" ds:itemID="{354FD501-210E-4312-9F44-D02185271490}">
  <ds:schemaRefs>
    <ds:schemaRef ds:uri="http://schemas.microsoft.com/office/2006/metadata/properties"/>
    <ds:schemaRef ds:uri="http://purl.org/dc/terms/"/>
    <ds:schemaRef ds:uri="be5acd07-d7f4-4a0a-a6b4-f16717bd70a0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b454d3f-fdf6-4ffc-a832-bf3728d2e0e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9F42BCC-2CFD-46B0-A370-971450E3BE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14262</TotalTime>
  <Words>346</Words>
  <Application>Microsoft Office PowerPoint</Application>
  <PresentationFormat>A4 Paper (210x297 mm)</PresentationFormat>
  <Paragraphs>59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Machin, Ross</dc:creator>
  <cp:lastModifiedBy>Alecia Solley</cp:lastModifiedBy>
  <cp:revision>81</cp:revision>
  <dcterms:created xsi:type="dcterms:W3CDTF">2025-06-03T23:00:58Z</dcterms:created>
  <dcterms:modified xsi:type="dcterms:W3CDTF">2026-06-05T00:12:50Z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0x010100AD7D2D1A85716F4182F10E99819BBFC4</vt:lpwstr>
  </property>
  <property fmtid="{D5CDD505-2E9C-101B-9397-08002B2CF9AE}" pid="3" name="MediaServiceImageTags">
    <vt:lpwstr/>
  </property>
</Properties>
</file>